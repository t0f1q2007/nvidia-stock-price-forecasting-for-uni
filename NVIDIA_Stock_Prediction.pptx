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4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12-02-2026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12-02-2026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12-02-2026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12-02-2026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12-02-2026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12-02-2026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12-02-2026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12-02-2026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12-02-2026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12-02-2026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12-02-2026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12-02-2026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NVIDIA Stock Market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</a:defRPr>
            </a:pPr>
            <a:r>
              <a:t>Leveraging Historical Data &amp; Machine Learning</a:t>
            </a:r>
            <a:br/>
            <a:r>
              <a:t>to Forecast Stock Returns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6B900"/>
                </a:solidFill>
              </a:defRPr>
            </a:pPr>
            <a:r>
              <a:rPr dirty="0"/>
              <a:t>Data Period: January 1999 – Present  |  OHLCV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CCCCC"/>
                </a:solidFill>
              </a:defRPr>
            </a:pPr>
            <a: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21793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dirty="0"/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3616234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</a:defRPr>
            </a:pPr>
            <a:r>
              <a:rPr dirty="0"/>
              <a:t>Project Objective &amp; Business Context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</a:defRPr>
            </a:pPr>
            <a:r>
              <a:rPr dirty="0"/>
              <a:t>Data Overview &amp; Quality Assessment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</a:defRPr>
            </a:pPr>
            <a:r>
              <a:rPr dirty="0"/>
              <a:t>Exploratory Data Analysis (EDA)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</a:defRPr>
            </a:pPr>
            <a:r>
              <a:rPr dirty="0"/>
              <a:t>Feature Engineering &amp; Statistical Testing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</a:defRPr>
            </a:pPr>
            <a:r>
              <a:rPr dirty="0"/>
              <a:t>Machine Learning Model Development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</a:defRPr>
            </a:pPr>
            <a:r>
              <a:rPr dirty="0"/>
              <a:t>Model Performance &amp; Comparison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</a:defRPr>
            </a:pPr>
            <a:r>
              <a:rPr dirty="0"/>
              <a:t>Key Insights &amp;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CCCCC"/>
                </a:solidFill>
              </a:defRPr>
            </a:pPr>
            <a: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D0BAA4-5A86-D3F5-3160-D563A08F6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DB8A5C-B58E-665C-DF86-A4BB58278D3E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1603B8-6625-BF29-77C4-B1EEE503FE4B}"/>
              </a:ext>
            </a:extLst>
          </p:cNvPr>
          <p:cNvSpPr txBox="1"/>
          <p:nvPr/>
        </p:nvSpPr>
        <p:spPr>
          <a:xfrm>
            <a:off x="640080" y="274320"/>
            <a:ext cx="295220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lang="en-US" sz="3000" b="1" dirty="0"/>
              <a:t>Business Need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963DEB-4DBB-8C02-E012-FD25EC6C3966}"/>
              </a:ext>
            </a:extLst>
          </p:cNvPr>
          <p:cNvSpPr/>
          <p:nvPr/>
        </p:nvSpPr>
        <p:spPr>
          <a:xfrm>
            <a:off x="640080" y="114300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584E2F-CEED-760E-633F-62DE10393810}"/>
              </a:ext>
            </a:extLst>
          </p:cNvPr>
          <p:cNvSpPr txBox="1"/>
          <p:nvPr/>
        </p:nvSpPr>
        <p:spPr>
          <a:xfrm>
            <a:off x="459376" y="1533415"/>
            <a:ext cx="4019007" cy="4760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rPr lang="en-US" sz="2000" dirty="0"/>
              <a:t>These Machine Learning models</a:t>
            </a:r>
            <a:endParaRPr lang="az-Latn-AZ" sz="2000" dirty="0"/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rPr lang="en-US" sz="2000" dirty="0"/>
              <a:t> (Random Forest and </a:t>
            </a:r>
            <a:r>
              <a:rPr lang="en-US" sz="2000" dirty="0" err="1"/>
              <a:t>XGBoost</a:t>
            </a:r>
            <a:r>
              <a:rPr lang="en-US" sz="2000" dirty="0"/>
              <a:t>) help</a:t>
            </a:r>
            <a:endParaRPr lang="az-Latn-AZ" sz="2000" dirty="0"/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rPr lang="en-US" sz="2000" dirty="0"/>
              <a:t> maximize profits and reduce</a:t>
            </a:r>
            <a:endParaRPr lang="az-Latn-AZ" sz="2000" dirty="0"/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rPr lang="en-US" sz="2000" dirty="0"/>
              <a:t> financial risks by predicting Nvidia’s</a:t>
            </a:r>
            <a:endParaRPr lang="az-Latn-AZ" sz="2000" dirty="0"/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rPr lang="en-US" sz="2000" dirty="0"/>
              <a:t> future price trends. They find</a:t>
            </a:r>
            <a:endParaRPr lang="az-Latn-AZ" sz="2000" dirty="0"/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rPr lang="en-US" sz="2000" dirty="0"/>
              <a:t> complex patterns in past price and</a:t>
            </a:r>
            <a:endParaRPr lang="az-Latn-AZ" sz="2000" dirty="0"/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rPr lang="en-US" sz="2000" dirty="0"/>
              <a:t> volume data to provide data-driven</a:t>
            </a:r>
            <a:endParaRPr lang="az-Latn-AZ" sz="2000" dirty="0"/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rPr lang="en-US" sz="2000" dirty="0"/>
              <a:t> answers. Using metrics like RMSE</a:t>
            </a:r>
            <a:endParaRPr lang="az-Latn-AZ" sz="2000" dirty="0"/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rPr lang="en-US" sz="2000" dirty="0"/>
              <a:t> and R^2, they show investors</a:t>
            </a:r>
            <a:endParaRPr lang="az-Latn-AZ" sz="2000" dirty="0"/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rPr lang="en-US" sz="2000" dirty="0"/>
              <a:t> exactly when it is most effective to</a:t>
            </a:r>
            <a:endParaRPr lang="az-Latn-AZ" sz="2000" dirty="0"/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rPr lang="en-US" sz="2000" dirty="0"/>
              <a:t> take action in the market.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376AD8-8193-0B5D-52FB-B3FF81F46DF6}"/>
              </a:ext>
            </a:extLst>
          </p:cNvPr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CCCCC"/>
                </a:solidFill>
              </a:defRPr>
            </a:pPr>
            <a:r>
              <a:t>2 / 18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620939-866C-D32B-3262-BBCDC8CBF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914" y="828318"/>
            <a:ext cx="6896581" cy="5176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757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Project Objective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16736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rPr dirty="0"/>
              <a:t>Predict next-day NVIDIA stock log-returns using ML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rPr dirty="0"/>
              <a:t>Evaluate if historical price patterns contain exploitable signals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rPr dirty="0"/>
              <a:t>Compare ensemble methods: Random Forest vs. </a:t>
            </a:r>
            <a:r>
              <a:rPr dirty="0" err="1"/>
              <a:t>XGBoost</a:t>
            </a:r>
            <a:endParaRPr dirty="0"/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rPr dirty="0"/>
              <a:t>Provide data-driven foundation for investment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CCCCC"/>
                </a:solidFill>
              </a:defRPr>
            </a:pPr>
            <a:r>
              <a:t>3 / 18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101234D-8FE2-AB7F-0699-CF4D74EEB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87" y="2866059"/>
            <a:ext cx="10789920" cy="38624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Dataset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020491" cy="4447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rPr dirty="0"/>
              <a:t>Source: NVIDIA historical stock data (1999–Present)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rPr dirty="0"/>
              <a:t>Features: Open, High, Low, Close, Volume (OHLCV)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rPr dirty="0"/>
              <a:t>~6,500+ daily trading records spanning 25+ years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rPr dirty="0"/>
              <a:t>No missing values or duplicates – clean dataset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rPr dirty="0"/>
              <a:t>Prices reflect adjusted values including stock splits</a:t>
            </a:r>
            <a:endParaRPr lang="en-US" dirty="0"/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endParaRPr lang="en-US" dirty="0"/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</a:defRPr>
            </a:pPr>
            <a:r>
              <a:rPr lang="en-US" sz="1600" b="1" dirty="0" err="1"/>
              <a:t>Trend</a:t>
            </a:r>
            <a:r>
              <a:rPr lang="en-US" sz="1600" dirty="0" err="1"/>
              <a:t>The</a:t>
            </a:r>
            <a:r>
              <a:rPr lang="en-US" sz="1600" dirty="0"/>
              <a:t> long-term increase or decrease in the data.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</a:defRPr>
            </a:pPr>
            <a:r>
              <a:rPr lang="en-US" sz="1600" b="1" dirty="0" err="1"/>
              <a:t>Volatility</a:t>
            </a:r>
            <a:r>
              <a:rPr lang="en-US" sz="1600" dirty="0" err="1"/>
              <a:t>The</a:t>
            </a:r>
            <a:r>
              <a:rPr lang="en-US" sz="1600" dirty="0"/>
              <a:t> degree of variation (variance) of price series over time.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</a:defRPr>
            </a:pPr>
            <a:r>
              <a:rPr lang="en-US" sz="1600" b="1" dirty="0" err="1"/>
              <a:t>Stationarity</a:t>
            </a:r>
            <a:r>
              <a:rPr lang="en-US" sz="1600" dirty="0" err="1"/>
              <a:t>A</a:t>
            </a:r>
            <a:r>
              <a:rPr lang="en-US" sz="1600" dirty="0"/>
              <a:t> property where mean and variance remain constant over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</a:defRPr>
            </a:pPr>
            <a:r>
              <a:rPr lang="en-US" sz="1600" b="1" dirty="0" err="1"/>
              <a:t>Seasonality</a:t>
            </a:r>
            <a:r>
              <a:rPr lang="en-US" sz="1600" dirty="0" err="1"/>
              <a:t>Periodic</a:t>
            </a:r>
            <a:r>
              <a:rPr lang="en-US" sz="1600" dirty="0"/>
              <a:t> fluctuations that repeat at regular intervals.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CCCCC"/>
                </a:solidFill>
              </a:defRPr>
            </a:pPr>
            <a:r>
              <a:t>4 / 18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9CCDC8-2D6C-0F5C-1FAD-EDE915E5F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822960"/>
            <a:ext cx="5138057" cy="51380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NVIDIA Historical Price Trend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rPr dirty="0"/>
              <a:t>Exponential growth from ~$0.04 to highs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rPr dirty="0"/>
              <a:t>Major acceleration post-2016 (AI/GPU boom)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rPr dirty="0"/>
              <a:t>Price distribution heavily right-skewed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76072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CCCCC"/>
                </a:solidFill>
              </a:defRPr>
            </a:pPr>
            <a:r>
              <a:t>5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OHLC &amp; Volume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OHLC prices move in tight formation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Volume spikes at key market events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IPO-era and AI-boom show highest activity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CCCCC"/>
                </a:solidFill>
              </a:defRPr>
            </a:pPr>
            <a:r>
              <a:t>6 / 18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F02FF4-F913-0A13-2E43-838CA37B4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70" y="2880360"/>
            <a:ext cx="10607040" cy="38761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Trading Volume Over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Significant spikes during major events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Higher volume = price inflection points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Volume provides supplementary signals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886" y="1188720"/>
            <a:ext cx="7502434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CCCCC"/>
                </a:solidFill>
              </a:defRPr>
            </a:pPr>
            <a:r>
              <a:t>7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Feature Correlations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OHLC features: &gt; 0.99 correlation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rPr dirty="0"/>
              <a:t>Volume weakly correlated with price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rPr dirty="0"/>
              <a:t>Multicollinearity → use log returns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0292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CCCCC"/>
                </a:solidFill>
              </a:defRPr>
            </a:pPr>
            <a:r>
              <a:t>8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Trend Analysis: Moving Averages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50-day &amp; 200-day MA as trend indicators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Golden Cross = bullish momentum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Death Cross = bearish 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CCCCC"/>
                </a:solidFill>
              </a:defRPr>
            </a:pPr>
            <a:r>
              <a:t>9 / 18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4BC78C-1DBF-1634-A28C-BD891E892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313" y="2746353"/>
            <a:ext cx="10472057" cy="39059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Volatility &amp; Daily Return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Returns centered near zero (normal dist.)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Volatility clustering observed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Fat tails indicate extreme movements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76072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CCCCC"/>
                </a:solidFill>
              </a:defRPr>
            </a:pPr>
            <a:r>
              <a:t>10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Stationarity Test (ADF)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Raw prices: non-stationary (trending)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Log returns: stationary confirmed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ADF Statistic: -13.95</a:t>
            </a:r>
          </a:p>
          <a:p>
            <a:pPr lvl="1">
              <a:spcBef>
                <a:spcPts val="400"/>
              </a:spcBef>
              <a:defRPr sz="1400">
                <a:solidFill>
                  <a:srgbClr val="CCCCCC"/>
                </a:solidFill>
              </a:defRPr>
            </a:pPr>
            <a:r>
              <a:t>p-value: 4.69e-26 (&lt;&lt; 0.05)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Stationary data = reliable modeling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3914" y="1188720"/>
            <a:ext cx="7600406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CCCCC"/>
                </a:solidFill>
              </a:defRPr>
            </a:pPr>
            <a:r>
              <a:t>11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Feature Engineering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Technical Indicators: SMA-20, RSI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Lag Features: 5 lagged log-return values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Moving Averages: 50-day &amp; 200-day MA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Target: Next-day log return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840480"/>
            <a:ext cx="91440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CCCCC"/>
                </a:solidFill>
              </a:defRPr>
            </a:pPr>
            <a:r>
              <a:t>12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Data Preparation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Chronological 80/20 split (no look-ahead bias)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RobustScaler – resistant to outliers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Scaler fitted on train only, applied to test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657600"/>
            <a:ext cx="82296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CCCCC"/>
                </a:solidFill>
              </a:defRPr>
            </a:pPr>
            <a:r>
              <a:t>13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Models Deployed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3877491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rPr dirty="0"/>
              <a:t>Random Forest Regressor</a:t>
            </a:r>
          </a:p>
          <a:p>
            <a:pPr lvl="1">
              <a:spcBef>
                <a:spcPts val="400"/>
              </a:spcBef>
              <a:defRPr sz="1400">
                <a:solidFill>
                  <a:srgbClr val="CCCCCC"/>
                </a:solidFill>
              </a:defRPr>
            </a:pPr>
            <a:r>
              <a:rPr dirty="0"/>
              <a:t>100 decision trees (ensemble)</a:t>
            </a:r>
          </a:p>
          <a:p>
            <a:pPr lvl="1">
              <a:spcBef>
                <a:spcPts val="400"/>
              </a:spcBef>
              <a:defRPr sz="1400">
                <a:solidFill>
                  <a:srgbClr val="CCCCCC"/>
                </a:solidFill>
              </a:defRPr>
            </a:pPr>
            <a:r>
              <a:rPr dirty="0"/>
              <a:t>Captures non-linear patterns</a:t>
            </a:r>
          </a:p>
          <a:p>
            <a:pPr lvl="1">
              <a:spcBef>
                <a:spcPts val="400"/>
              </a:spcBef>
              <a:defRPr sz="1400">
                <a:solidFill>
                  <a:srgbClr val="CCCCCC"/>
                </a:solidFill>
              </a:defRPr>
            </a:pPr>
            <a:r>
              <a:rPr dirty="0"/>
              <a:t>Built-in feature importance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CCCCC"/>
                </a:solidFill>
              </a:defRPr>
            </a:pPr>
            <a:r>
              <a:t>14 / 18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5DCA03-2BE1-7E27-B728-B957C3025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996" y="3052260"/>
            <a:ext cx="5405484" cy="360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8726D0F-4C7E-EEE7-2B88-A6B3A0E34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271" y="3052260"/>
            <a:ext cx="5406675" cy="3600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DF7A77-3F7F-8036-C470-821E0416F140}"/>
              </a:ext>
            </a:extLst>
          </p:cNvPr>
          <p:cNvSpPr txBox="1"/>
          <p:nvPr/>
        </p:nvSpPr>
        <p:spPr>
          <a:xfrm>
            <a:off x="6750815" y="1423851"/>
            <a:ext cx="4643845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rPr lang="en-US" dirty="0" err="1"/>
              <a:t>XGBoost</a:t>
            </a:r>
            <a:r>
              <a:rPr lang="en-US" dirty="0"/>
              <a:t> Regressor</a:t>
            </a:r>
          </a:p>
          <a:p>
            <a:pPr lvl="1">
              <a:spcBef>
                <a:spcPts val="400"/>
              </a:spcBef>
              <a:defRPr sz="1400">
                <a:solidFill>
                  <a:srgbClr val="CCCCCC"/>
                </a:solidFill>
              </a:defRPr>
            </a:pPr>
            <a:r>
              <a:rPr lang="en-US" dirty="0"/>
              <a:t>Gradient Boosting (sequential)</a:t>
            </a:r>
          </a:p>
          <a:p>
            <a:pPr lvl="1">
              <a:spcBef>
                <a:spcPts val="400"/>
              </a:spcBef>
              <a:defRPr sz="1400">
                <a:solidFill>
                  <a:srgbClr val="CCCCCC"/>
                </a:solidFill>
              </a:defRPr>
            </a:pPr>
            <a:r>
              <a:rPr lang="en-US" dirty="0"/>
              <a:t>Squared-error objective</a:t>
            </a:r>
          </a:p>
          <a:p>
            <a:pPr lvl="1">
              <a:spcBef>
                <a:spcPts val="400"/>
              </a:spcBef>
              <a:defRPr sz="1400">
                <a:solidFill>
                  <a:srgbClr val="CCCCCC"/>
                </a:solidFill>
              </a:defRPr>
            </a:pPr>
            <a:r>
              <a:rPr lang="en-US" dirty="0"/>
              <a:t>Top performer on tabular data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Model Evaluation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5029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Directional Accuracy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0.0357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50.99%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0.0426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46.96%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1089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XGBoost outperforms on both RMSE and directional accuracy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~51% directional accuracy – marginally above random (50%)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Low RMSE reflects small-magnitude log returns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760720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CCCCC"/>
                </a:solidFill>
              </a:defRPr>
            </a:pPr>
            <a:r>
              <a:t>15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Actual vs. Predicted Returns (Last 100 Days)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XGBoost tracks actual returns more closely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Random Forest shows wider deviation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Both struggle with extreme spikes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Predictions cluster near zero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76072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CCCCC"/>
                </a:solidFill>
              </a:defRPr>
            </a:pPr>
            <a:r>
              <a:t>16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82880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0584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rPr dirty="0"/>
              <a:t>NVIDIA: extraordinary 25+ year growth trajectory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rPr dirty="0"/>
              <a:t>Log return transformation essential for valid modeling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rPr dirty="0" err="1"/>
              <a:t>XGBoost</a:t>
            </a:r>
            <a:r>
              <a:rPr dirty="0"/>
              <a:t>: best performer (lower RMSE, better direction)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rPr dirty="0"/>
              <a:t>~51% accuracy → market is highly efficient short-term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rPr dirty="0"/>
              <a:t>Feature engineering adds modest but real predictive value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rPr dirty="0"/>
              <a:t>Models provide quantitative baseline for advanced strategies</a:t>
            </a:r>
            <a:endParaRPr lang="en-US" dirty="0"/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CCCCC"/>
                </a:solidFill>
              </a:defRPr>
            </a:pPr>
            <a:r>
              <a:t>17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77327CA-3DF7-4073-8ED2-69EF38AAF242}">
  <we:reference id="wa200010001" version="1.0.0.0" store="en-US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680</Words>
  <Application>Microsoft Office PowerPoint</Application>
  <PresentationFormat>Custom</PresentationFormat>
  <Paragraphs>130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Nigar Majidzada</cp:lastModifiedBy>
  <cp:revision>2</cp:revision>
  <dcterms:created xsi:type="dcterms:W3CDTF">2013-01-27T09:14:16Z</dcterms:created>
  <dcterms:modified xsi:type="dcterms:W3CDTF">2026-02-12T10:03:42Z</dcterms:modified>
  <cp:category/>
</cp:coreProperties>
</file>